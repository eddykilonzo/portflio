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923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4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18" Type="http://schemas.openxmlformats.org/officeDocument/2006/relationships/image" Target="../media/image46.png"/><Relationship Id="rId3" Type="http://schemas.openxmlformats.org/officeDocument/2006/relationships/image" Target="../media/image4.png"/><Relationship Id="rId21" Type="http://schemas.openxmlformats.org/officeDocument/2006/relationships/image" Target="../media/image49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5.png"/><Relationship Id="rId25" Type="http://schemas.openxmlformats.org/officeDocument/2006/relationships/image" Target="../media/image53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44.png"/><Relationship Id="rId20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24" Type="http://schemas.openxmlformats.org/officeDocument/2006/relationships/image" Target="../media/image52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23" Type="http://schemas.openxmlformats.org/officeDocument/2006/relationships/image" Target="../media/image51.png"/><Relationship Id="rId10" Type="http://schemas.openxmlformats.org/officeDocument/2006/relationships/image" Target="../media/image38.png"/><Relationship Id="rId19" Type="http://schemas.openxmlformats.org/officeDocument/2006/relationships/image" Target="../media/image47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Relationship Id="rId22" Type="http://schemas.openxmlformats.org/officeDocument/2006/relationships/image" Target="../media/image5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14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png"/><Relationship Id="rId18" Type="http://schemas.openxmlformats.org/officeDocument/2006/relationships/image" Target="../media/image77.png"/><Relationship Id="rId3" Type="http://schemas.openxmlformats.org/officeDocument/2006/relationships/image" Target="../media/image4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17" Type="http://schemas.openxmlformats.org/officeDocument/2006/relationships/image" Target="../media/image76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5" Type="http://schemas.openxmlformats.org/officeDocument/2006/relationships/image" Target="../media/image74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Relationship Id="rId14" Type="http://schemas.openxmlformats.org/officeDocument/2006/relationships/image" Target="../media/image7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981075" y="476250"/>
            <a:ext cx="228123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Acme AeroTech</a:t>
            </a:r>
            <a:endParaRPr lang="en-US" sz="2200" dirty="0"/>
          </a:p>
        </p:txBody>
      </p:sp>
      <p:sp>
        <p:nvSpPr>
          <p:cNvPr id="7" name="Text 2"/>
          <p:cNvSpPr/>
          <p:nvPr/>
        </p:nvSpPr>
        <p:spPr>
          <a:xfrm>
            <a:off x="9858375" y="737146"/>
            <a:ext cx="176212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8" name="Text 3"/>
          <p:cNvSpPr/>
          <p:nvPr/>
        </p:nvSpPr>
        <p:spPr>
          <a:xfrm>
            <a:off x="571500" y="3257550"/>
            <a:ext cx="11049000" cy="1152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Acme AeroTech</a:t>
            </a:r>
            <a:endParaRPr lang="en-US" sz="7800" dirty="0"/>
          </a:p>
        </p:txBody>
      </p:sp>
      <p:sp>
        <p:nvSpPr>
          <p:cNvPr id="9" name="Text 4"/>
          <p:cNvSpPr/>
          <p:nvPr/>
        </p:nvSpPr>
        <p:spPr>
          <a:xfrm>
            <a:off x="571500" y="4695825"/>
            <a:ext cx="11049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network redesign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571500" y="5448300"/>
            <a:ext cx="11049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Name: Eddy Max Kilonzo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52625" y="1295400"/>
            <a:ext cx="76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500" dirty="0">
                <a:solidFill>
                  <a:srgbClr val="B7E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4500" dirty="0"/>
          </a:p>
        </p:txBody>
      </p:sp>
      <p:sp>
        <p:nvSpPr>
          <p:cNvPr id="4" name="Text 1"/>
          <p:cNvSpPr/>
          <p:nvPr/>
        </p:nvSpPr>
        <p:spPr>
          <a:xfrm>
            <a:off x="3095625" y="1409700"/>
            <a:ext cx="714375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B7E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&amp; critical assets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952625" y="2209800"/>
            <a:ext cx="76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500" dirty="0">
                <a:solidFill>
                  <a:srgbClr val="B7E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4500" dirty="0"/>
          </a:p>
        </p:txBody>
      </p:sp>
      <p:sp>
        <p:nvSpPr>
          <p:cNvPr id="6" name="Text 3"/>
          <p:cNvSpPr/>
          <p:nvPr/>
        </p:nvSpPr>
        <p:spPr>
          <a:xfrm>
            <a:off x="3095625" y="2324100"/>
            <a:ext cx="714375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B7E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network and its weaknesses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952625" y="3124200"/>
            <a:ext cx="76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500" dirty="0">
                <a:solidFill>
                  <a:srgbClr val="B7E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4500" dirty="0"/>
          </a:p>
        </p:txBody>
      </p:sp>
      <p:sp>
        <p:nvSpPr>
          <p:cNvPr id="8" name="Text 5"/>
          <p:cNvSpPr/>
          <p:nvPr/>
        </p:nvSpPr>
        <p:spPr>
          <a:xfrm>
            <a:off x="3095625" y="3238500"/>
            <a:ext cx="714375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B7E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Vulnerability analysis &amp; risk prioritization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952625" y="4038600"/>
            <a:ext cx="76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500" dirty="0">
                <a:solidFill>
                  <a:srgbClr val="B7E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4500" dirty="0"/>
          </a:p>
        </p:txBody>
      </p:sp>
      <p:sp>
        <p:nvSpPr>
          <p:cNvPr id="10" name="Text 7"/>
          <p:cNvSpPr/>
          <p:nvPr/>
        </p:nvSpPr>
        <p:spPr>
          <a:xfrm>
            <a:off x="3095625" y="4133850"/>
            <a:ext cx="714375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B7E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 secure redesign + security controls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952625" y="4953000"/>
            <a:ext cx="76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500" dirty="0">
                <a:solidFill>
                  <a:srgbClr val="B7E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4500" dirty="0"/>
          </a:p>
        </p:txBody>
      </p:sp>
      <p:sp>
        <p:nvSpPr>
          <p:cNvPr id="12" name="Text 9"/>
          <p:cNvSpPr/>
          <p:nvPr/>
        </p:nvSpPr>
        <p:spPr>
          <a:xfrm>
            <a:off x="3095625" y="5067300"/>
            <a:ext cx="714375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B7E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Trade-offs and key takeaways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122890" y="114300"/>
            <a:ext cx="1972735" cy="982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B7E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624138" y="2988915"/>
            <a:ext cx="694372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900" b="1" dirty="0">
                <a:solidFill>
                  <a:srgbClr val="B7E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Summary</a:t>
            </a:r>
            <a:endParaRPr lang="en-US" sz="5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0475" y="1800225"/>
            <a:ext cx="3829050" cy="33909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62000" y="571500"/>
            <a:ext cx="10668000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Summary</a:t>
            </a:r>
            <a:endParaRPr lang="en-US" sz="4500" dirty="0"/>
          </a:p>
        </p:txBody>
      </p:sp>
      <p:sp>
        <p:nvSpPr>
          <p:cNvPr id="5" name="Text 1"/>
          <p:cNvSpPr/>
          <p:nvPr/>
        </p:nvSpPr>
        <p:spPr>
          <a:xfrm>
            <a:off x="762000" y="1813471"/>
            <a:ext cx="6286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7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Organization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762000" y="2127796"/>
            <a:ext cx="628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mid-sized aerospace engineering firm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762000" y="2432596"/>
            <a:ext cx="628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workforce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762000" y="2737396"/>
            <a:ext cx="628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ITAR-adjacent work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62000" y="3346996"/>
            <a:ext cx="6286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7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62000" y="3661321"/>
            <a:ext cx="628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 engineering IP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62000" y="3966121"/>
            <a:ext cx="628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design/finance/HR available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62000" y="4270921"/>
            <a:ext cx="628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 secure remote work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62000" y="4575721"/>
            <a:ext cx="628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 ITAR/contract obligations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962900" y="2099221"/>
            <a:ext cx="31813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Challenges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229600" y="2499271"/>
            <a:ext cx="8191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flat network</a:t>
            </a:r>
            <a:endParaRPr lang="en-US" sz="10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3375" y="2505075"/>
            <a:ext cx="171450" cy="1619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0" y="2813596"/>
            <a:ext cx="11430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segmentation</a:t>
            </a:r>
            <a:endParaRPr lang="en-US" sz="10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3375" y="2819400"/>
            <a:ext cx="171450" cy="1619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29600" y="3127921"/>
            <a:ext cx="21431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weak public-facing protections</a:t>
            </a:r>
            <a:endParaRPr lang="en-US" sz="10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3375" y="3133725"/>
            <a:ext cx="171450" cy="16192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229600" y="3442246"/>
            <a:ext cx="9429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monitoring</a:t>
            </a:r>
            <a:endParaRPr lang="en-US" sz="10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3375" y="3448050"/>
            <a:ext cx="171450" cy="16192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229600" y="3756571"/>
            <a:ext cx="15335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points of failure</a:t>
            </a:r>
            <a:endParaRPr lang="en-US" sz="10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3375" y="3762375"/>
            <a:ext cx="171450" cy="161925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8229600" y="4070896"/>
            <a:ext cx="15430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default IoT credentials</a:t>
            </a:r>
            <a:endParaRPr lang="en-US" sz="10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3375" y="4076700"/>
            <a:ext cx="171450" cy="161925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8229600" y="4385221"/>
            <a:ext cx="11906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unencrypted FTP</a:t>
            </a:r>
            <a:endParaRPr lang="en-US" sz="100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53375" y="4391025"/>
            <a:ext cx="171450" cy="161925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8229600" y="4699546"/>
            <a:ext cx="523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MFA</a:t>
            </a:r>
            <a:endParaRPr lang="en-US" sz="1000" dirty="0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53375" y="4705350"/>
            <a:ext cx="171450" cy="1619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01077" y="3740111"/>
            <a:ext cx="5934075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0" dirty="0"/>
          </a:p>
        </p:txBody>
      </p:sp>
      <p:sp>
        <p:nvSpPr>
          <p:cNvPr id="5" name="Text 1"/>
          <p:cNvSpPr/>
          <p:nvPr/>
        </p:nvSpPr>
        <p:spPr>
          <a:xfrm>
            <a:off x="1843088" y="3135660"/>
            <a:ext cx="8505825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B7E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Network Diagram Overview</a:t>
            </a:r>
            <a:endParaRPr lang="en-US" sz="3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137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2975" y="5391150"/>
            <a:ext cx="3067050" cy="10858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71500" y="476250"/>
            <a:ext cx="11049000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Network Diagram Overview</a:t>
            </a:r>
            <a:endParaRPr lang="en-US" sz="450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5429250"/>
            <a:ext cx="190500" cy="15240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857250" y="5400675"/>
            <a:ext cx="64008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Components:</a:t>
            </a:r>
            <a:r>
              <a:rPr lang="en-US" sz="1100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00" dirty="0">
                <a:solidFill>
                  <a:srgbClr val="3B5F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internet → router (192.168.1.1) → single firewall → one switch (192.168.1.3)</a:t>
            </a:r>
            <a:endParaRPr lang="en-US" sz="1100" dirty="0"/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975" y="5753100"/>
            <a:ext cx="171450" cy="161925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838200" y="5728246"/>
            <a:ext cx="735330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Endpoints:</a:t>
            </a:r>
            <a:r>
              <a:rPr lang="en-US" sz="1100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00" dirty="0">
                <a:solidFill>
                  <a:srgbClr val="3B5F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server; database; FTP server; 3 user PCs; wireless AP; mobile device; smart printer; IP camera</a:t>
            </a:r>
            <a:endParaRPr lang="en-US" sz="1100" dirty="0"/>
          </a:p>
        </p:txBody>
      </p:sp>
      <p:sp>
        <p:nvSpPr>
          <p:cNvPr id="10" name="Text 3"/>
          <p:cNvSpPr/>
          <p:nvPr/>
        </p:nvSpPr>
        <p:spPr>
          <a:xfrm>
            <a:off x="8820150" y="5591175"/>
            <a:ext cx="26098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7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Issue</a:t>
            </a:r>
            <a:endParaRPr lang="en-US" sz="900" dirty="0"/>
          </a:p>
        </p:txBody>
      </p:sp>
      <p:sp>
        <p:nvSpPr>
          <p:cNvPr id="11" name="Text 4"/>
          <p:cNvSpPr/>
          <p:nvPr/>
        </p:nvSpPr>
        <p:spPr>
          <a:xfrm>
            <a:off x="8820150" y="5829300"/>
            <a:ext cx="2609850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/24 subnet exposes the entire network</a:t>
            </a: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F9FF54E-8A64-6771-20A4-17C3B101EF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0869" y="1357516"/>
            <a:ext cx="9619455" cy="38315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5"/>
            <a:ext cx="1219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71700" y="2988915"/>
            <a:ext cx="7848600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900" b="1" dirty="0">
                <a:solidFill>
                  <a:srgbClr val="B7E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Vulnerability Analysis</a:t>
            </a:r>
            <a:endParaRPr lang="en-US" sz="5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1514475"/>
            <a:ext cx="10687050" cy="4667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1952625"/>
            <a:ext cx="10687050" cy="4286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2352675"/>
            <a:ext cx="10687050" cy="4286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2752725"/>
            <a:ext cx="10687050" cy="42862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3152775"/>
            <a:ext cx="10687050" cy="4286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3552825"/>
            <a:ext cx="10687050" cy="4286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3952875"/>
            <a:ext cx="10687050" cy="42862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4352925"/>
            <a:ext cx="10687050" cy="42862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4752975"/>
            <a:ext cx="10687050" cy="428625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762000" y="571500"/>
            <a:ext cx="10668000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Vulnerability Analysis</a:t>
            </a:r>
            <a:endParaRPr lang="en-US" sz="4500" dirty="0"/>
          </a:p>
        </p:txBody>
      </p:sp>
      <p:pic>
        <p:nvPicPr>
          <p:cNvPr id="13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1514475"/>
            <a:ext cx="3762375" cy="466725"/>
          </a:xfrm>
          <a:prstGeom prst="rect">
            <a:avLst/>
          </a:prstGeom>
        </p:spPr>
      </p:pic>
      <p:sp>
        <p:nvSpPr>
          <p:cNvPr id="14" name="Text 1"/>
          <p:cNvSpPr/>
          <p:nvPr/>
        </p:nvSpPr>
        <p:spPr>
          <a:xfrm>
            <a:off x="957263" y="1646783"/>
            <a:ext cx="33493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highlight>
                  <a:srgbClr val="004A5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Vulnerability</a:t>
            </a:r>
            <a:endParaRPr lang="en-US" sz="1200" dirty="0"/>
          </a:p>
        </p:txBody>
      </p:sp>
      <p:pic>
        <p:nvPicPr>
          <p:cNvPr id="15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86275" y="1514475"/>
            <a:ext cx="6953250" cy="466725"/>
          </a:xfrm>
          <a:prstGeom prst="rect">
            <a:avLst/>
          </a:prstGeom>
        </p:spPr>
      </p:pic>
      <p:sp>
        <p:nvSpPr>
          <p:cNvPr id="16" name="Text 2"/>
          <p:cNvSpPr/>
          <p:nvPr/>
        </p:nvSpPr>
        <p:spPr>
          <a:xfrm>
            <a:off x="4687639" y="1646783"/>
            <a:ext cx="65470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highlight>
                  <a:srgbClr val="004A5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Why it matters</a:t>
            </a:r>
            <a:endParaRPr lang="en-US" sz="1200" dirty="0"/>
          </a:p>
        </p:txBody>
      </p:sp>
      <p:pic>
        <p:nvPicPr>
          <p:cNvPr id="17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2475" y="1952625"/>
            <a:ext cx="3762375" cy="428625"/>
          </a:xfrm>
          <a:prstGeom prst="rect">
            <a:avLst/>
          </a:prstGeom>
        </p:spPr>
      </p:pic>
      <p:sp>
        <p:nvSpPr>
          <p:cNvPr id="18" name="Text 3"/>
          <p:cNvSpPr/>
          <p:nvPr/>
        </p:nvSpPr>
        <p:spPr>
          <a:xfrm>
            <a:off x="957263" y="2065883"/>
            <a:ext cx="33493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Flat network (no VLANs)</a:t>
            </a:r>
            <a:endParaRPr lang="en-US" sz="1000" dirty="0"/>
          </a:p>
        </p:txBody>
      </p:sp>
      <p:pic>
        <p:nvPicPr>
          <p:cNvPr id="19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86275" y="1952625"/>
            <a:ext cx="6953250" cy="428625"/>
          </a:xfrm>
          <a:prstGeom prst="rect">
            <a:avLst/>
          </a:prstGeom>
        </p:spPr>
      </p:pic>
      <p:sp>
        <p:nvSpPr>
          <p:cNvPr id="20" name="Text 4"/>
          <p:cNvSpPr/>
          <p:nvPr/>
        </p:nvSpPr>
        <p:spPr>
          <a:xfrm>
            <a:off x="4687639" y="2065883"/>
            <a:ext cx="65470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59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/24 means lateral movement is trivial; a compromised printer can reach the database</a:t>
            </a:r>
            <a:endParaRPr lang="en-US" sz="1000" dirty="0"/>
          </a:p>
        </p:txBody>
      </p:sp>
      <p:pic>
        <p:nvPicPr>
          <p:cNvPr id="21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2475" y="2352675"/>
            <a:ext cx="3762375" cy="428625"/>
          </a:xfrm>
          <a:prstGeom prst="rect">
            <a:avLst/>
          </a:prstGeom>
        </p:spPr>
      </p:pic>
      <p:sp>
        <p:nvSpPr>
          <p:cNvPr id="22" name="Text 5"/>
          <p:cNvSpPr/>
          <p:nvPr/>
        </p:nvSpPr>
        <p:spPr>
          <a:xfrm>
            <a:off x="957263" y="2465933"/>
            <a:ext cx="33493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DMZ</a:t>
            </a:r>
            <a:endParaRPr lang="en-US" sz="1000" dirty="0"/>
          </a:p>
        </p:txBody>
      </p:sp>
      <p:pic>
        <p:nvPicPr>
          <p:cNvPr id="23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86275" y="2352675"/>
            <a:ext cx="6953250" cy="428625"/>
          </a:xfrm>
          <a:prstGeom prst="rect">
            <a:avLst/>
          </a:prstGeom>
        </p:spPr>
      </p:pic>
      <p:sp>
        <p:nvSpPr>
          <p:cNvPr id="24" name="Text 6"/>
          <p:cNvSpPr/>
          <p:nvPr/>
        </p:nvSpPr>
        <p:spPr>
          <a:xfrm>
            <a:off x="4687639" y="2465933"/>
            <a:ext cx="65470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59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Web/FTP servers sit beside internal systems; an exposed CVE pivots straight to PII/IP</a:t>
            </a:r>
            <a:endParaRPr lang="en-US" sz="1000" dirty="0"/>
          </a:p>
        </p:txBody>
      </p:sp>
      <p:pic>
        <p:nvPicPr>
          <p:cNvPr id="25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2475" y="2752725"/>
            <a:ext cx="3762375" cy="428625"/>
          </a:xfrm>
          <a:prstGeom prst="rect">
            <a:avLst/>
          </a:prstGeom>
        </p:spPr>
      </p:pic>
      <p:sp>
        <p:nvSpPr>
          <p:cNvPr id="26" name="Text 7"/>
          <p:cNvSpPr/>
          <p:nvPr/>
        </p:nvSpPr>
        <p:spPr>
          <a:xfrm>
            <a:off x="957263" y="2865983"/>
            <a:ext cx="33493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firewall, no HA</a:t>
            </a:r>
            <a:endParaRPr lang="en-US" sz="1000" dirty="0"/>
          </a:p>
        </p:txBody>
      </p:sp>
      <p:pic>
        <p:nvPicPr>
          <p:cNvPr id="27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86275" y="2752725"/>
            <a:ext cx="6953250" cy="428625"/>
          </a:xfrm>
          <a:prstGeom prst="rect">
            <a:avLst/>
          </a:prstGeom>
        </p:spPr>
      </p:pic>
      <p:sp>
        <p:nvSpPr>
          <p:cNvPr id="28" name="Text 8"/>
          <p:cNvSpPr/>
          <p:nvPr/>
        </p:nvSpPr>
        <p:spPr>
          <a:xfrm>
            <a:off x="4687639" y="2865983"/>
            <a:ext cx="65470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59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point of failure; one outage takes the perimeter offline</a:t>
            </a:r>
            <a:endParaRPr lang="en-US" sz="1000" dirty="0"/>
          </a:p>
        </p:txBody>
      </p:sp>
      <p:pic>
        <p:nvPicPr>
          <p:cNvPr id="29" name="Image 1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2475" y="3152775"/>
            <a:ext cx="3762375" cy="428625"/>
          </a:xfrm>
          <a:prstGeom prst="rect">
            <a:avLst/>
          </a:prstGeom>
        </p:spPr>
      </p:pic>
      <p:sp>
        <p:nvSpPr>
          <p:cNvPr id="30" name="Text 9"/>
          <p:cNvSpPr/>
          <p:nvPr/>
        </p:nvSpPr>
        <p:spPr>
          <a:xfrm>
            <a:off x="957263" y="3266033"/>
            <a:ext cx="33493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Unencrypted FTP (port 21)</a:t>
            </a:r>
            <a:endParaRPr lang="en-US" sz="1000" dirty="0"/>
          </a:p>
        </p:txBody>
      </p:sp>
      <p:pic>
        <p:nvPicPr>
          <p:cNvPr id="31" name="Image 1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86275" y="3152775"/>
            <a:ext cx="6953250" cy="428625"/>
          </a:xfrm>
          <a:prstGeom prst="rect">
            <a:avLst/>
          </a:prstGeom>
        </p:spPr>
      </p:pic>
      <p:sp>
        <p:nvSpPr>
          <p:cNvPr id="32" name="Text 10"/>
          <p:cNvSpPr/>
          <p:nvPr/>
        </p:nvSpPr>
        <p:spPr>
          <a:xfrm>
            <a:off x="4687639" y="3266033"/>
            <a:ext cx="65470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59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Credentials and files in clear text; trivially sniffed</a:t>
            </a:r>
            <a:endParaRPr lang="en-US" sz="1000" dirty="0"/>
          </a:p>
        </p:txBody>
      </p:sp>
      <p:pic>
        <p:nvPicPr>
          <p:cNvPr id="33" name="Image 2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2475" y="3552825"/>
            <a:ext cx="3762375" cy="428625"/>
          </a:xfrm>
          <a:prstGeom prst="rect">
            <a:avLst/>
          </a:prstGeom>
        </p:spPr>
      </p:pic>
      <p:sp>
        <p:nvSpPr>
          <p:cNvPr id="34" name="Text 11"/>
          <p:cNvSpPr/>
          <p:nvPr/>
        </p:nvSpPr>
        <p:spPr>
          <a:xfrm>
            <a:off x="957263" y="3666083"/>
            <a:ext cx="33493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IDS/IPS</a:t>
            </a:r>
            <a:endParaRPr lang="en-US" sz="1000" dirty="0"/>
          </a:p>
        </p:txBody>
      </p:sp>
      <p:pic>
        <p:nvPicPr>
          <p:cNvPr id="35" name="Image 2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86275" y="3552825"/>
            <a:ext cx="6953250" cy="428625"/>
          </a:xfrm>
          <a:prstGeom prst="rect">
            <a:avLst/>
          </a:prstGeom>
        </p:spPr>
      </p:pic>
      <p:sp>
        <p:nvSpPr>
          <p:cNvPr id="36" name="Text 12"/>
          <p:cNvSpPr/>
          <p:nvPr/>
        </p:nvSpPr>
        <p:spPr>
          <a:xfrm>
            <a:off x="4687639" y="3666083"/>
            <a:ext cx="65470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59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Attacker traffic (exploits, C2 beacons) goes unnoticed</a:t>
            </a:r>
            <a:endParaRPr lang="en-US" sz="1000" dirty="0"/>
          </a:p>
        </p:txBody>
      </p:sp>
      <p:pic>
        <p:nvPicPr>
          <p:cNvPr id="37" name="Image 2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2475" y="3952875"/>
            <a:ext cx="3762375" cy="428625"/>
          </a:xfrm>
          <a:prstGeom prst="rect">
            <a:avLst/>
          </a:prstGeom>
        </p:spPr>
      </p:pic>
      <p:sp>
        <p:nvSpPr>
          <p:cNvPr id="38" name="Text 13"/>
          <p:cNvSpPr/>
          <p:nvPr/>
        </p:nvSpPr>
        <p:spPr>
          <a:xfrm>
            <a:off x="957263" y="4066133"/>
            <a:ext cx="33493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MFA / weak auth</a:t>
            </a:r>
            <a:endParaRPr lang="en-US" sz="1000" dirty="0"/>
          </a:p>
        </p:txBody>
      </p:sp>
      <p:pic>
        <p:nvPicPr>
          <p:cNvPr id="39" name="Image 2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86275" y="3952875"/>
            <a:ext cx="6953250" cy="428625"/>
          </a:xfrm>
          <a:prstGeom prst="rect">
            <a:avLst/>
          </a:prstGeom>
        </p:spPr>
      </p:pic>
      <p:sp>
        <p:nvSpPr>
          <p:cNvPr id="40" name="Text 14"/>
          <p:cNvSpPr/>
          <p:nvPr/>
        </p:nvSpPr>
        <p:spPr>
          <a:xfrm>
            <a:off x="4687639" y="4066133"/>
            <a:ext cx="65470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59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Credential theft → full account takeover; especially risky for finance/HR/engineering</a:t>
            </a:r>
            <a:endParaRPr lang="en-US" sz="1000" dirty="0"/>
          </a:p>
        </p:txBody>
      </p:sp>
      <p:pic>
        <p:nvPicPr>
          <p:cNvPr id="41" name="Image 2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2475" y="4352925"/>
            <a:ext cx="3762375" cy="428625"/>
          </a:xfrm>
          <a:prstGeom prst="rect">
            <a:avLst/>
          </a:prstGeom>
        </p:spPr>
      </p:pic>
      <p:sp>
        <p:nvSpPr>
          <p:cNvPr id="42" name="Text 15"/>
          <p:cNvSpPr/>
          <p:nvPr/>
        </p:nvSpPr>
        <p:spPr>
          <a:xfrm>
            <a:off x="957263" y="4466183"/>
            <a:ext cx="33493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Default credentials on IoT (camera, printer)</a:t>
            </a:r>
            <a:endParaRPr lang="en-US" sz="1000" dirty="0"/>
          </a:p>
        </p:txBody>
      </p:sp>
      <p:pic>
        <p:nvPicPr>
          <p:cNvPr id="43" name="Image 2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86275" y="4352925"/>
            <a:ext cx="6953250" cy="428625"/>
          </a:xfrm>
          <a:prstGeom prst="rect">
            <a:avLst/>
          </a:prstGeom>
        </p:spPr>
      </p:pic>
      <p:sp>
        <p:nvSpPr>
          <p:cNvPr id="44" name="Text 16"/>
          <p:cNvSpPr/>
          <p:nvPr/>
        </p:nvSpPr>
        <p:spPr>
          <a:xfrm>
            <a:off x="4687639" y="4466183"/>
            <a:ext cx="65470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59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Botnet recruitment + lateral pivot into the LAN</a:t>
            </a:r>
            <a:endParaRPr lang="en-US" sz="1000" dirty="0"/>
          </a:p>
        </p:txBody>
      </p:sp>
      <p:pic>
        <p:nvPicPr>
          <p:cNvPr id="45" name="Image 2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2475" y="4752975"/>
            <a:ext cx="3762375" cy="428625"/>
          </a:xfrm>
          <a:prstGeom prst="rect">
            <a:avLst/>
          </a:prstGeom>
        </p:spPr>
      </p:pic>
      <p:sp>
        <p:nvSpPr>
          <p:cNvPr id="46" name="Text 17"/>
          <p:cNvSpPr/>
          <p:nvPr/>
        </p:nvSpPr>
        <p:spPr>
          <a:xfrm>
            <a:off x="957263" y="4866233"/>
            <a:ext cx="33493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centralized logging / monitoring</a:t>
            </a:r>
            <a:endParaRPr lang="en-US" sz="1000" dirty="0"/>
          </a:p>
        </p:txBody>
      </p:sp>
      <p:pic>
        <p:nvPicPr>
          <p:cNvPr id="47" name="Image 2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86275" y="4752975"/>
            <a:ext cx="6953250" cy="428625"/>
          </a:xfrm>
          <a:prstGeom prst="rect">
            <a:avLst/>
          </a:prstGeom>
        </p:spPr>
      </p:pic>
      <p:sp>
        <p:nvSpPr>
          <p:cNvPr id="48" name="Text 18"/>
          <p:cNvSpPr/>
          <p:nvPr/>
        </p:nvSpPr>
        <p:spPr>
          <a:xfrm>
            <a:off x="4687639" y="4866233"/>
            <a:ext cx="65470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59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detected late or not at all; no audit trail for compliance</a:t>
            </a:r>
            <a:endParaRPr lang="en-US" sz="1000" dirty="0"/>
          </a:p>
        </p:txBody>
      </p:sp>
      <p:pic>
        <p:nvPicPr>
          <p:cNvPr id="49" name="Image 2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2475" y="5534025"/>
            <a:ext cx="10687050" cy="762000"/>
          </a:xfrm>
          <a:prstGeom prst="rect">
            <a:avLst/>
          </a:prstGeom>
        </p:spPr>
      </p:pic>
      <p:sp>
        <p:nvSpPr>
          <p:cNvPr id="50" name="Text 19"/>
          <p:cNvSpPr/>
          <p:nvPr/>
        </p:nvSpPr>
        <p:spPr>
          <a:xfrm>
            <a:off x="1000125" y="5686425"/>
            <a:ext cx="10191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4A5C"/>
                </a:solidFill>
                <a:highlight>
                  <a:srgbClr val="B7E2F2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Any one of these is exploitable on its own; together they form a chain that lets a single phishing email reach the crown-jewel CAD repository in hours.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220133"/>
            <a:ext cx="12192000" cy="711834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285750" y="5838825"/>
            <a:ext cx="3581400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5700" dirty="0"/>
          </a:p>
        </p:txBody>
      </p:sp>
      <p:sp>
        <p:nvSpPr>
          <p:cNvPr id="5" name="Text 1"/>
          <p:cNvSpPr/>
          <p:nvPr/>
        </p:nvSpPr>
        <p:spPr>
          <a:xfrm>
            <a:off x="2866760" y="2941290"/>
            <a:ext cx="6458479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B7E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Prioritize RISK</a:t>
            </a:r>
            <a:endParaRPr lang="en-US" sz="5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1514475"/>
            <a:ext cx="10687050" cy="4667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1952625"/>
            <a:ext cx="10687050" cy="4286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2352675"/>
            <a:ext cx="10687050" cy="4286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2752725"/>
            <a:ext cx="10687050" cy="42862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3152775"/>
            <a:ext cx="10687050" cy="4286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3552825"/>
            <a:ext cx="10687050" cy="4286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3952875"/>
            <a:ext cx="10687050" cy="42862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4352925"/>
            <a:ext cx="10687050" cy="42862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4752975"/>
            <a:ext cx="10687050" cy="428625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762000" y="571500"/>
            <a:ext cx="10668000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Prioritization</a:t>
            </a:r>
            <a:endParaRPr lang="en-US" sz="4500" dirty="0"/>
          </a:p>
        </p:txBody>
      </p:sp>
      <p:pic>
        <p:nvPicPr>
          <p:cNvPr id="13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5" y="1514475"/>
            <a:ext cx="4295775" cy="466725"/>
          </a:xfrm>
          <a:prstGeom prst="rect">
            <a:avLst/>
          </a:prstGeom>
        </p:spPr>
      </p:pic>
      <p:sp>
        <p:nvSpPr>
          <p:cNvPr id="14" name="Text 1"/>
          <p:cNvSpPr/>
          <p:nvPr/>
        </p:nvSpPr>
        <p:spPr>
          <a:xfrm>
            <a:off x="957263" y="1646783"/>
            <a:ext cx="38823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highlight>
                  <a:srgbClr val="004A5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Risk</a:t>
            </a:r>
            <a:endParaRPr lang="en-US" sz="1200" dirty="0"/>
          </a:p>
        </p:txBody>
      </p:sp>
      <p:pic>
        <p:nvPicPr>
          <p:cNvPr id="15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19675" y="1514475"/>
            <a:ext cx="2152650" cy="466725"/>
          </a:xfrm>
          <a:prstGeom prst="rect">
            <a:avLst/>
          </a:prstGeom>
        </p:spPr>
      </p:pic>
      <p:sp>
        <p:nvSpPr>
          <p:cNvPr id="16" name="Text 2"/>
          <p:cNvSpPr/>
          <p:nvPr/>
        </p:nvSpPr>
        <p:spPr>
          <a:xfrm>
            <a:off x="5220593" y="1646783"/>
            <a:ext cx="17506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highlight>
                  <a:srgbClr val="004A5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Likelihood</a:t>
            </a:r>
            <a:endParaRPr lang="en-US" sz="1200" dirty="0"/>
          </a:p>
        </p:txBody>
      </p:sp>
      <p:pic>
        <p:nvPicPr>
          <p:cNvPr id="17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43750" y="1514475"/>
            <a:ext cx="2162175" cy="466725"/>
          </a:xfrm>
          <a:prstGeom prst="rect">
            <a:avLst/>
          </a:prstGeom>
        </p:spPr>
      </p:pic>
      <p:sp>
        <p:nvSpPr>
          <p:cNvPr id="18" name="Text 3"/>
          <p:cNvSpPr/>
          <p:nvPr/>
        </p:nvSpPr>
        <p:spPr>
          <a:xfrm>
            <a:off x="7352258" y="1646783"/>
            <a:ext cx="17506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highlight>
                  <a:srgbClr val="004A5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Impact</a:t>
            </a:r>
            <a:endParaRPr lang="en-US" sz="1200" dirty="0"/>
          </a:p>
        </p:txBody>
      </p:sp>
      <p:pic>
        <p:nvPicPr>
          <p:cNvPr id="19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77350" y="1514475"/>
            <a:ext cx="2162175" cy="466725"/>
          </a:xfrm>
          <a:prstGeom prst="rect">
            <a:avLst/>
          </a:prstGeom>
        </p:spPr>
      </p:pic>
      <p:sp>
        <p:nvSpPr>
          <p:cNvPr id="20" name="Text 4"/>
          <p:cNvSpPr/>
          <p:nvPr/>
        </p:nvSpPr>
        <p:spPr>
          <a:xfrm>
            <a:off x="9483923" y="1646783"/>
            <a:ext cx="175081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highlight>
                  <a:srgbClr val="004A5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Severity</a:t>
            </a:r>
            <a:endParaRPr lang="en-US" sz="1200" dirty="0"/>
          </a:p>
        </p:txBody>
      </p:sp>
      <p:pic>
        <p:nvPicPr>
          <p:cNvPr id="21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2475" y="1952625"/>
            <a:ext cx="4295775" cy="428625"/>
          </a:xfrm>
          <a:prstGeom prst="rect">
            <a:avLst/>
          </a:prstGeom>
        </p:spPr>
      </p:pic>
      <p:sp>
        <p:nvSpPr>
          <p:cNvPr id="22" name="Text 5"/>
          <p:cNvSpPr/>
          <p:nvPr/>
        </p:nvSpPr>
        <p:spPr>
          <a:xfrm>
            <a:off x="957263" y="2065883"/>
            <a:ext cx="38823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Flat network → lateral movement</a:t>
            </a:r>
            <a:endParaRPr lang="en-US" sz="1000" dirty="0"/>
          </a:p>
        </p:txBody>
      </p:sp>
      <p:pic>
        <p:nvPicPr>
          <p:cNvPr id="23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19675" y="1952625"/>
            <a:ext cx="2152650" cy="428625"/>
          </a:xfrm>
          <a:prstGeom prst="rect">
            <a:avLst/>
          </a:prstGeom>
        </p:spPr>
      </p:pic>
      <p:sp>
        <p:nvSpPr>
          <p:cNvPr id="24" name="Text 6"/>
          <p:cNvSpPr/>
          <p:nvPr/>
        </p:nvSpPr>
        <p:spPr>
          <a:xfrm>
            <a:off x="5220593" y="2065883"/>
            <a:ext cx="17506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59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1000" dirty="0"/>
          </a:p>
        </p:txBody>
      </p:sp>
      <p:pic>
        <p:nvPicPr>
          <p:cNvPr id="25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43750" y="1952625"/>
            <a:ext cx="2162175" cy="428625"/>
          </a:xfrm>
          <a:prstGeom prst="rect">
            <a:avLst/>
          </a:prstGeom>
        </p:spPr>
      </p:pic>
      <p:sp>
        <p:nvSpPr>
          <p:cNvPr id="26" name="Text 7"/>
          <p:cNvSpPr/>
          <p:nvPr/>
        </p:nvSpPr>
        <p:spPr>
          <a:xfrm>
            <a:off x="7352258" y="2065883"/>
            <a:ext cx="17506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59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1000" dirty="0"/>
          </a:p>
        </p:txBody>
      </p:sp>
      <p:pic>
        <p:nvPicPr>
          <p:cNvPr id="27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77350" y="1952625"/>
            <a:ext cx="2162175" cy="428625"/>
          </a:xfrm>
          <a:prstGeom prst="rect">
            <a:avLst/>
          </a:prstGeom>
        </p:spPr>
      </p:pic>
      <p:sp>
        <p:nvSpPr>
          <p:cNvPr id="28" name="Text 8"/>
          <p:cNvSpPr/>
          <p:nvPr/>
        </p:nvSpPr>
        <p:spPr>
          <a:xfrm>
            <a:off x="9483923" y="2065883"/>
            <a:ext cx="175081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32F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</a:t>
            </a:r>
            <a:endParaRPr lang="en-US" sz="1000" dirty="0"/>
          </a:p>
        </p:txBody>
      </p:sp>
      <p:pic>
        <p:nvPicPr>
          <p:cNvPr id="29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2475" y="2352675"/>
            <a:ext cx="4295775" cy="428625"/>
          </a:xfrm>
          <a:prstGeom prst="rect">
            <a:avLst/>
          </a:prstGeom>
        </p:spPr>
      </p:pic>
      <p:sp>
        <p:nvSpPr>
          <p:cNvPr id="30" name="Text 9"/>
          <p:cNvSpPr/>
          <p:nvPr/>
        </p:nvSpPr>
        <p:spPr>
          <a:xfrm>
            <a:off x="957263" y="2465933"/>
            <a:ext cx="38823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Public-facing services on internal LAN</a:t>
            </a:r>
            <a:endParaRPr lang="en-US" sz="1000" dirty="0"/>
          </a:p>
        </p:txBody>
      </p:sp>
      <p:pic>
        <p:nvPicPr>
          <p:cNvPr id="3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19675" y="2352675"/>
            <a:ext cx="2152650" cy="428625"/>
          </a:xfrm>
          <a:prstGeom prst="rect">
            <a:avLst/>
          </a:prstGeom>
        </p:spPr>
      </p:pic>
      <p:sp>
        <p:nvSpPr>
          <p:cNvPr id="32" name="Text 10"/>
          <p:cNvSpPr/>
          <p:nvPr/>
        </p:nvSpPr>
        <p:spPr>
          <a:xfrm>
            <a:off x="5220593" y="2465933"/>
            <a:ext cx="17506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59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1000" dirty="0"/>
          </a:p>
        </p:txBody>
      </p:sp>
      <p:pic>
        <p:nvPicPr>
          <p:cNvPr id="33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43750" y="2352675"/>
            <a:ext cx="2162175" cy="428625"/>
          </a:xfrm>
          <a:prstGeom prst="rect">
            <a:avLst/>
          </a:prstGeom>
        </p:spPr>
      </p:pic>
      <p:sp>
        <p:nvSpPr>
          <p:cNvPr id="34" name="Text 11"/>
          <p:cNvSpPr/>
          <p:nvPr/>
        </p:nvSpPr>
        <p:spPr>
          <a:xfrm>
            <a:off x="7352258" y="2465933"/>
            <a:ext cx="17506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59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1000" dirty="0"/>
          </a:p>
        </p:txBody>
      </p:sp>
      <p:pic>
        <p:nvPicPr>
          <p:cNvPr id="35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77350" y="2352675"/>
            <a:ext cx="2162175" cy="428625"/>
          </a:xfrm>
          <a:prstGeom prst="rect">
            <a:avLst/>
          </a:prstGeom>
        </p:spPr>
      </p:pic>
      <p:sp>
        <p:nvSpPr>
          <p:cNvPr id="36" name="Text 12"/>
          <p:cNvSpPr/>
          <p:nvPr/>
        </p:nvSpPr>
        <p:spPr>
          <a:xfrm>
            <a:off x="9483923" y="2465933"/>
            <a:ext cx="175081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32F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</a:t>
            </a:r>
            <a:endParaRPr lang="en-US" sz="1000" dirty="0"/>
          </a:p>
        </p:txBody>
      </p:sp>
      <p:pic>
        <p:nvPicPr>
          <p:cNvPr id="37" name="Image 2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2475" y="2752725"/>
            <a:ext cx="4295775" cy="428625"/>
          </a:xfrm>
          <a:prstGeom prst="rect">
            <a:avLst/>
          </a:prstGeom>
        </p:spPr>
      </p:pic>
      <p:sp>
        <p:nvSpPr>
          <p:cNvPr id="38" name="Text 13"/>
          <p:cNvSpPr/>
          <p:nvPr/>
        </p:nvSpPr>
        <p:spPr>
          <a:xfrm>
            <a:off x="957263" y="2865983"/>
            <a:ext cx="38823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Unencrypted FTP credentials</a:t>
            </a:r>
            <a:endParaRPr lang="en-US" sz="1000" dirty="0"/>
          </a:p>
        </p:txBody>
      </p:sp>
      <p:pic>
        <p:nvPicPr>
          <p:cNvPr id="39" name="Image 23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19675" y="2752725"/>
            <a:ext cx="2152650" cy="428625"/>
          </a:xfrm>
          <a:prstGeom prst="rect">
            <a:avLst/>
          </a:prstGeom>
        </p:spPr>
      </p:pic>
      <p:sp>
        <p:nvSpPr>
          <p:cNvPr id="40" name="Text 14"/>
          <p:cNvSpPr/>
          <p:nvPr/>
        </p:nvSpPr>
        <p:spPr>
          <a:xfrm>
            <a:off x="5220593" y="2865983"/>
            <a:ext cx="17506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59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1000" dirty="0"/>
          </a:p>
        </p:txBody>
      </p:sp>
      <p:pic>
        <p:nvPicPr>
          <p:cNvPr id="41" name="Image 24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43750" y="2752725"/>
            <a:ext cx="2162175" cy="428625"/>
          </a:xfrm>
          <a:prstGeom prst="rect">
            <a:avLst/>
          </a:prstGeom>
        </p:spPr>
      </p:pic>
      <p:sp>
        <p:nvSpPr>
          <p:cNvPr id="42" name="Text 15"/>
          <p:cNvSpPr/>
          <p:nvPr/>
        </p:nvSpPr>
        <p:spPr>
          <a:xfrm>
            <a:off x="7352258" y="2865983"/>
            <a:ext cx="17506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59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1000" dirty="0"/>
          </a:p>
        </p:txBody>
      </p:sp>
      <p:pic>
        <p:nvPicPr>
          <p:cNvPr id="43" name="Image 25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77350" y="2752725"/>
            <a:ext cx="2162175" cy="428625"/>
          </a:xfrm>
          <a:prstGeom prst="rect">
            <a:avLst/>
          </a:prstGeom>
        </p:spPr>
      </p:pic>
      <p:sp>
        <p:nvSpPr>
          <p:cNvPr id="44" name="Text 16"/>
          <p:cNvSpPr/>
          <p:nvPr/>
        </p:nvSpPr>
        <p:spPr>
          <a:xfrm>
            <a:off x="9483923" y="2865983"/>
            <a:ext cx="175081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32F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</a:t>
            </a:r>
            <a:endParaRPr lang="en-US" sz="1000" dirty="0"/>
          </a:p>
        </p:txBody>
      </p:sp>
      <p:pic>
        <p:nvPicPr>
          <p:cNvPr id="45" name="Image 2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2475" y="3152775"/>
            <a:ext cx="4295775" cy="428625"/>
          </a:xfrm>
          <a:prstGeom prst="rect">
            <a:avLst/>
          </a:prstGeom>
        </p:spPr>
      </p:pic>
      <p:sp>
        <p:nvSpPr>
          <p:cNvPr id="46" name="Text 17"/>
          <p:cNvSpPr/>
          <p:nvPr/>
        </p:nvSpPr>
        <p:spPr>
          <a:xfrm>
            <a:off x="957263" y="3266033"/>
            <a:ext cx="38823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MFA on privileged accounts</a:t>
            </a:r>
            <a:endParaRPr lang="en-US" sz="1000" dirty="0"/>
          </a:p>
        </p:txBody>
      </p:sp>
      <p:pic>
        <p:nvPicPr>
          <p:cNvPr id="47" name="Image 2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19675" y="3152775"/>
            <a:ext cx="2152650" cy="428625"/>
          </a:xfrm>
          <a:prstGeom prst="rect">
            <a:avLst/>
          </a:prstGeom>
        </p:spPr>
      </p:pic>
      <p:sp>
        <p:nvSpPr>
          <p:cNvPr id="48" name="Text 18"/>
          <p:cNvSpPr/>
          <p:nvPr/>
        </p:nvSpPr>
        <p:spPr>
          <a:xfrm>
            <a:off x="5220593" y="3266033"/>
            <a:ext cx="17506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59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1000" dirty="0"/>
          </a:p>
        </p:txBody>
      </p:sp>
      <p:pic>
        <p:nvPicPr>
          <p:cNvPr id="49" name="Image 2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43750" y="3152775"/>
            <a:ext cx="2162175" cy="428625"/>
          </a:xfrm>
          <a:prstGeom prst="rect">
            <a:avLst/>
          </a:prstGeom>
        </p:spPr>
      </p:pic>
      <p:sp>
        <p:nvSpPr>
          <p:cNvPr id="50" name="Text 19"/>
          <p:cNvSpPr/>
          <p:nvPr/>
        </p:nvSpPr>
        <p:spPr>
          <a:xfrm>
            <a:off x="7352258" y="3266033"/>
            <a:ext cx="17506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59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1000" dirty="0"/>
          </a:p>
        </p:txBody>
      </p:sp>
      <p:pic>
        <p:nvPicPr>
          <p:cNvPr id="51" name="Image 2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77350" y="3152775"/>
            <a:ext cx="2162175" cy="428625"/>
          </a:xfrm>
          <a:prstGeom prst="rect">
            <a:avLst/>
          </a:prstGeom>
        </p:spPr>
      </p:pic>
      <p:sp>
        <p:nvSpPr>
          <p:cNvPr id="52" name="Text 20"/>
          <p:cNvSpPr/>
          <p:nvPr/>
        </p:nvSpPr>
        <p:spPr>
          <a:xfrm>
            <a:off x="9483923" y="3266033"/>
            <a:ext cx="175081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32F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</a:t>
            </a:r>
            <a:endParaRPr lang="en-US" sz="1000" dirty="0"/>
          </a:p>
        </p:txBody>
      </p:sp>
      <p:pic>
        <p:nvPicPr>
          <p:cNvPr id="53" name="Image 3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2475" y="3552825"/>
            <a:ext cx="4295775" cy="428625"/>
          </a:xfrm>
          <a:prstGeom prst="rect">
            <a:avLst/>
          </a:prstGeom>
        </p:spPr>
      </p:pic>
      <p:sp>
        <p:nvSpPr>
          <p:cNvPr id="54" name="Text 21"/>
          <p:cNvSpPr/>
          <p:nvPr/>
        </p:nvSpPr>
        <p:spPr>
          <a:xfrm>
            <a:off x="957263" y="3666083"/>
            <a:ext cx="38823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firewall (no HA)</a:t>
            </a:r>
            <a:endParaRPr lang="en-US" sz="1000" dirty="0"/>
          </a:p>
        </p:txBody>
      </p:sp>
      <p:pic>
        <p:nvPicPr>
          <p:cNvPr id="55" name="Image 3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19675" y="3552825"/>
            <a:ext cx="2152650" cy="428625"/>
          </a:xfrm>
          <a:prstGeom prst="rect">
            <a:avLst/>
          </a:prstGeom>
        </p:spPr>
      </p:pic>
      <p:sp>
        <p:nvSpPr>
          <p:cNvPr id="56" name="Text 22"/>
          <p:cNvSpPr/>
          <p:nvPr/>
        </p:nvSpPr>
        <p:spPr>
          <a:xfrm>
            <a:off x="5220593" y="3666083"/>
            <a:ext cx="17506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59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1000" dirty="0"/>
          </a:p>
        </p:txBody>
      </p:sp>
      <p:pic>
        <p:nvPicPr>
          <p:cNvPr id="57" name="Image 3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43750" y="3552825"/>
            <a:ext cx="2162175" cy="428625"/>
          </a:xfrm>
          <a:prstGeom prst="rect">
            <a:avLst/>
          </a:prstGeom>
        </p:spPr>
      </p:pic>
      <p:sp>
        <p:nvSpPr>
          <p:cNvPr id="58" name="Text 23"/>
          <p:cNvSpPr/>
          <p:nvPr/>
        </p:nvSpPr>
        <p:spPr>
          <a:xfrm>
            <a:off x="7352258" y="3666083"/>
            <a:ext cx="17506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59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1000" dirty="0"/>
          </a:p>
        </p:txBody>
      </p:sp>
      <p:pic>
        <p:nvPicPr>
          <p:cNvPr id="59" name="Image 33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77350" y="3552825"/>
            <a:ext cx="2162175" cy="428625"/>
          </a:xfrm>
          <a:prstGeom prst="rect">
            <a:avLst/>
          </a:prstGeom>
        </p:spPr>
      </p:pic>
      <p:sp>
        <p:nvSpPr>
          <p:cNvPr id="60" name="Text 24"/>
          <p:cNvSpPr/>
          <p:nvPr/>
        </p:nvSpPr>
        <p:spPr>
          <a:xfrm>
            <a:off x="9483923" y="3666083"/>
            <a:ext cx="175081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7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1000" dirty="0"/>
          </a:p>
        </p:txBody>
      </p:sp>
      <p:pic>
        <p:nvPicPr>
          <p:cNvPr id="61" name="Image 3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2475" y="3952875"/>
            <a:ext cx="4295775" cy="428625"/>
          </a:xfrm>
          <a:prstGeom prst="rect">
            <a:avLst/>
          </a:prstGeom>
        </p:spPr>
      </p:pic>
      <p:sp>
        <p:nvSpPr>
          <p:cNvPr id="62" name="Text 25"/>
          <p:cNvSpPr/>
          <p:nvPr/>
        </p:nvSpPr>
        <p:spPr>
          <a:xfrm>
            <a:off x="957263" y="4066133"/>
            <a:ext cx="38823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IDS/IPS visibility</a:t>
            </a:r>
            <a:endParaRPr lang="en-US" sz="1000" dirty="0"/>
          </a:p>
        </p:txBody>
      </p:sp>
      <p:pic>
        <p:nvPicPr>
          <p:cNvPr id="63" name="Image 3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19675" y="3952875"/>
            <a:ext cx="2152650" cy="428625"/>
          </a:xfrm>
          <a:prstGeom prst="rect">
            <a:avLst/>
          </a:prstGeom>
        </p:spPr>
      </p:pic>
      <p:sp>
        <p:nvSpPr>
          <p:cNvPr id="64" name="Text 26"/>
          <p:cNvSpPr/>
          <p:nvPr/>
        </p:nvSpPr>
        <p:spPr>
          <a:xfrm>
            <a:off x="5220593" y="4066133"/>
            <a:ext cx="17506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59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1000" dirty="0"/>
          </a:p>
        </p:txBody>
      </p:sp>
      <p:pic>
        <p:nvPicPr>
          <p:cNvPr id="65" name="Image 3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43750" y="3952875"/>
            <a:ext cx="2162175" cy="428625"/>
          </a:xfrm>
          <a:prstGeom prst="rect">
            <a:avLst/>
          </a:prstGeom>
        </p:spPr>
      </p:pic>
      <p:sp>
        <p:nvSpPr>
          <p:cNvPr id="66" name="Text 27"/>
          <p:cNvSpPr/>
          <p:nvPr/>
        </p:nvSpPr>
        <p:spPr>
          <a:xfrm>
            <a:off x="7352258" y="4066133"/>
            <a:ext cx="17506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59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1000" dirty="0"/>
          </a:p>
        </p:txBody>
      </p:sp>
      <p:pic>
        <p:nvPicPr>
          <p:cNvPr id="67" name="Image 3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77350" y="3952875"/>
            <a:ext cx="2162175" cy="428625"/>
          </a:xfrm>
          <a:prstGeom prst="rect">
            <a:avLst/>
          </a:prstGeom>
        </p:spPr>
      </p:pic>
      <p:sp>
        <p:nvSpPr>
          <p:cNvPr id="68" name="Text 28"/>
          <p:cNvSpPr/>
          <p:nvPr/>
        </p:nvSpPr>
        <p:spPr>
          <a:xfrm>
            <a:off x="9483923" y="4066133"/>
            <a:ext cx="175081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7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1000" dirty="0"/>
          </a:p>
        </p:txBody>
      </p:sp>
      <p:pic>
        <p:nvPicPr>
          <p:cNvPr id="69" name="Image 3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2475" y="4352925"/>
            <a:ext cx="4295775" cy="428625"/>
          </a:xfrm>
          <a:prstGeom prst="rect">
            <a:avLst/>
          </a:prstGeom>
        </p:spPr>
      </p:pic>
      <p:sp>
        <p:nvSpPr>
          <p:cNvPr id="70" name="Text 29"/>
          <p:cNvSpPr/>
          <p:nvPr/>
        </p:nvSpPr>
        <p:spPr>
          <a:xfrm>
            <a:off x="957263" y="4466183"/>
            <a:ext cx="38823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Default IoT credentials</a:t>
            </a:r>
            <a:endParaRPr lang="en-US" sz="1000" dirty="0"/>
          </a:p>
        </p:txBody>
      </p:sp>
      <p:pic>
        <p:nvPicPr>
          <p:cNvPr id="71" name="Image 3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19675" y="4352925"/>
            <a:ext cx="2152650" cy="428625"/>
          </a:xfrm>
          <a:prstGeom prst="rect">
            <a:avLst/>
          </a:prstGeom>
        </p:spPr>
      </p:pic>
      <p:sp>
        <p:nvSpPr>
          <p:cNvPr id="72" name="Text 30"/>
          <p:cNvSpPr/>
          <p:nvPr/>
        </p:nvSpPr>
        <p:spPr>
          <a:xfrm>
            <a:off x="5220593" y="4466183"/>
            <a:ext cx="17506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59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1000" dirty="0"/>
          </a:p>
        </p:txBody>
      </p:sp>
      <p:pic>
        <p:nvPicPr>
          <p:cNvPr id="73" name="Image 4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43750" y="4352925"/>
            <a:ext cx="2162175" cy="428625"/>
          </a:xfrm>
          <a:prstGeom prst="rect">
            <a:avLst/>
          </a:prstGeom>
        </p:spPr>
      </p:pic>
      <p:sp>
        <p:nvSpPr>
          <p:cNvPr id="74" name="Text 31"/>
          <p:cNvSpPr/>
          <p:nvPr/>
        </p:nvSpPr>
        <p:spPr>
          <a:xfrm>
            <a:off x="7352258" y="4466183"/>
            <a:ext cx="17506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59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1000" dirty="0"/>
          </a:p>
        </p:txBody>
      </p:sp>
      <p:pic>
        <p:nvPicPr>
          <p:cNvPr id="75" name="Image 4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77350" y="4352925"/>
            <a:ext cx="2162175" cy="428625"/>
          </a:xfrm>
          <a:prstGeom prst="rect">
            <a:avLst/>
          </a:prstGeom>
        </p:spPr>
      </p:pic>
      <p:sp>
        <p:nvSpPr>
          <p:cNvPr id="76" name="Text 32"/>
          <p:cNvSpPr/>
          <p:nvPr/>
        </p:nvSpPr>
        <p:spPr>
          <a:xfrm>
            <a:off x="9483923" y="4466183"/>
            <a:ext cx="175081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7C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1000" dirty="0"/>
          </a:p>
        </p:txBody>
      </p:sp>
      <p:pic>
        <p:nvPicPr>
          <p:cNvPr id="77" name="Image 4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52475" y="4752975"/>
            <a:ext cx="4295775" cy="428625"/>
          </a:xfrm>
          <a:prstGeom prst="rect">
            <a:avLst/>
          </a:prstGeom>
        </p:spPr>
      </p:pic>
      <p:sp>
        <p:nvSpPr>
          <p:cNvPr id="78" name="Text 33"/>
          <p:cNvSpPr/>
          <p:nvPr/>
        </p:nvSpPr>
        <p:spPr>
          <a:xfrm>
            <a:off x="957263" y="4866233"/>
            <a:ext cx="38823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centralized logging</a:t>
            </a:r>
            <a:endParaRPr lang="en-US" sz="1000" dirty="0"/>
          </a:p>
        </p:txBody>
      </p:sp>
      <p:pic>
        <p:nvPicPr>
          <p:cNvPr id="79" name="Image 4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019675" y="4752975"/>
            <a:ext cx="2152650" cy="428625"/>
          </a:xfrm>
          <a:prstGeom prst="rect">
            <a:avLst/>
          </a:prstGeom>
        </p:spPr>
      </p:pic>
      <p:sp>
        <p:nvSpPr>
          <p:cNvPr id="80" name="Text 34"/>
          <p:cNvSpPr/>
          <p:nvPr/>
        </p:nvSpPr>
        <p:spPr>
          <a:xfrm>
            <a:off x="5220593" y="4866233"/>
            <a:ext cx="17506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59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1000" dirty="0"/>
          </a:p>
        </p:txBody>
      </p:sp>
      <p:pic>
        <p:nvPicPr>
          <p:cNvPr id="81" name="Image 4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143750" y="4752975"/>
            <a:ext cx="2162175" cy="428625"/>
          </a:xfrm>
          <a:prstGeom prst="rect">
            <a:avLst/>
          </a:prstGeom>
        </p:spPr>
      </p:pic>
      <p:sp>
        <p:nvSpPr>
          <p:cNvPr id="82" name="Text 35"/>
          <p:cNvSpPr/>
          <p:nvPr/>
        </p:nvSpPr>
        <p:spPr>
          <a:xfrm>
            <a:off x="7352258" y="4866233"/>
            <a:ext cx="17506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59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1000" dirty="0"/>
          </a:p>
        </p:txBody>
      </p:sp>
      <p:pic>
        <p:nvPicPr>
          <p:cNvPr id="83" name="Image 4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277350" y="4752975"/>
            <a:ext cx="2162175" cy="428625"/>
          </a:xfrm>
          <a:prstGeom prst="rect">
            <a:avLst/>
          </a:prstGeom>
        </p:spPr>
      </p:pic>
      <p:sp>
        <p:nvSpPr>
          <p:cNvPr id="84" name="Text 36"/>
          <p:cNvSpPr/>
          <p:nvPr/>
        </p:nvSpPr>
        <p:spPr>
          <a:xfrm>
            <a:off x="9483923" y="4866233"/>
            <a:ext cx="175081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1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85" name="Image 4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52475" y="5762625"/>
            <a:ext cx="10687050" cy="533400"/>
          </a:xfrm>
          <a:prstGeom prst="rect">
            <a:avLst/>
          </a:prstGeom>
        </p:spPr>
      </p:pic>
      <p:sp>
        <p:nvSpPr>
          <p:cNvPr id="86" name="Text 37"/>
          <p:cNvSpPr/>
          <p:nvPr/>
        </p:nvSpPr>
        <p:spPr>
          <a:xfrm>
            <a:off x="1000125" y="5915025"/>
            <a:ext cx="1019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4A5C"/>
                </a:solidFill>
                <a:highlight>
                  <a:srgbClr val="ECECE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Justification: prioritization reflects aerospace IP value, ITAR exposure, and realistic threat-actor TTPs.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036" y="-211666"/>
            <a:ext cx="12344400" cy="707813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65564" y="2175164"/>
            <a:ext cx="8742218" cy="1693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900" b="1" dirty="0">
                <a:solidFill>
                  <a:srgbClr val="B7E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 Redesign</a:t>
            </a:r>
            <a:endParaRPr lang="en-US" sz="5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76250"/>
            <a:ext cx="11049000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 Network Redesign</a:t>
            </a:r>
            <a:endParaRPr lang="en-US" sz="4500" dirty="0"/>
          </a:p>
        </p:txBody>
      </p:sp>
      <p:sp>
        <p:nvSpPr>
          <p:cNvPr id="5" name="Text 1"/>
          <p:cNvSpPr/>
          <p:nvPr/>
        </p:nvSpPr>
        <p:spPr>
          <a:xfrm>
            <a:off x="8382000" y="1399681"/>
            <a:ext cx="3238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7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Segmentation &amp; Perimeter</a:t>
            </a:r>
            <a:endParaRPr lang="en-US" sz="9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2475" y="1695450"/>
            <a:ext cx="133350" cy="14287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591550" y="1678781"/>
            <a:ext cx="30289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5F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VLAN segmentation across 8 zones; default-deny ACL between VLANs</a:t>
            </a:r>
            <a:endParaRPr lang="en-US" sz="10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2475" y="2143125"/>
            <a:ext cx="133350" cy="14287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591550" y="2126456"/>
            <a:ext cx="30289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5F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DMZ for internet-facing services; web/SFTP/mail isolated</a:t>
            </a:r>
            <a:endParaRPr lang="en-US" sz="10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2475" y="2590800"/>
            <a:ext cx="123825" cy="14287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8582025" y="2574131"/>
            <a:ext cx="30384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5F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Firewall HA pair with auto-failover; redundant Layer-3 core switches with LACP</a:t>
            </a:r>
            <a:endParaRPr lang="en-US" sz="1000" dirty="0"/>
          </a:p>
        </p:txBody>
      </p:sp>
      <p:sp>
        <p:nvSpPr>
          <p:cNvPr id="12" name="Text 5"/>
          <p:cNvSpPr/>
          <p:nvPr/>
        </p:nvSpPr>
        <p:spPr>
          <a:xfrm>
            <a:off x="8382000" y="3098006"/>
            <a:ext cx="3238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7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 &amp; Access</a:t>
            </a:r>
            <a:endParaRPr lang="en-US" sz="9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2475" y="3390900"/>
            <a:ext cx="152400" cy="14287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610600" y="3374231"/>
            <a:ext cx="30099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5F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Inline IDS/IPS (Snort/Suricata) between firewall and core</a:t>
            </a:r>
            <a:endParaRPr lang="en-US" sz="10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2475" y="3838575"/>
            <a:ext cx="123825" cy="142875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8582025" y="3821906"/>
            <a:ext cx="3038475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5F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Protocol upgrades: FTP→SFTP; HTTP→HTTPS; SMTP gateway behind firewall</a:t>
            </a:r>
            <a:endParaRPr lang="en-US" sz="100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2475" y="4467225"/>
            <a:ext cx="161925" cy="142875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8620125" y="4455319"/>
            <a:ext cx="3000375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5F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controls: 802.1X + NAC; WPA3-Enterprise; guest isolated; IoT VLAN with no inter-VLAN routing</a:t>
            </a:r>
            <a:endParaRPr lang="en-US" sz="1000" dirty="0"/>
          </a:p>
        </p:txBody>
      </p:sp>
      <p:sp>
        <p:nvSpPr>
          <p:cNvPr id="19" name="Text 9"/>
          <p:cNvSpPr/>
          <p:nvPr/>
        </p:nvSpPr>
        <p:spPr>
          <a:xfrm>
            <a:off x="8382000" y="5164931"/>
            <a:ext cx="3238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7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&amp; Protection</a:t>
            </a:r>
            <a:endParaRPr lang="en-US" sz="900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72475" y="5457825"/>
            <a:ext cx="123825" cy="142875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8582025" y="5441156"/>
            <a:ext cx="30384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5F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OOB management VLAN 90: bastion host; SIEM; EDR; PAM; SOAR</a:t>
            </a:r>
            <a:endParaRPr lang="en-US" sz="10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72475" y="5905500"/>
            <a:ext cx="152400" cy="142875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8610600" y="5888831"/>
            <a:ext cx="30099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5F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protection: MFA/RADIUS; internal PKI/CA; encrypted DB + standby replica; 3-2-1 backups</a:t>
            </a: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878DF82-E8B2-FC2D-B304-586D491926B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4257" y="1310056"/>
            <a:ext cx="6601061" cy="519518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938463" y="2988915"/>
            <a:ext cx="631507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900" b="1" dirty="0">
                <a:solidFill>
                  <a:srgbClr val="B7E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Controls</a:t>
            </a:r>
            <a:endParaRPr lang="en-US" sz="5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613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1466850"/>
            <a:ext cx="10687050" cy="419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1857375"/>
            <a:ext cx="10687050" cy="3524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2181225"/>
            <a:ext cx="10687050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2495550"/>
            <a:ext cx="1068705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2809875"/>
            <a:ext cx="10687050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3124200"/>
            <a:ext cx="1068705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3438525"/>
            <a:ext cx="10687050" cy="35242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3762375"/>
            <a:ext cx="10687050" cy="342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4076700"/>
            <a:ext cx="10687050" cy="342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4391025"/>
            <a:ext cx="1068705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4705350"/>
            <a:ext cx="10687050" cy="342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5019675"/>
            <a:ext cx="10687050" cy="342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5334000"/>
            <a:ext cx="10687050" cy="352425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762000" y="571500"/>
            <a:ext cx="10668000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 Security Controls</a:t>
            </a:r>
            <a:endParaRPr lang="en-US" sz="4500" dirty="0"/>
          </a:p>
        </p:txBody>
      </p:sp>
      <p:pic>
        <p:nvPicPr>
          <p:cNvPr id="17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5" y="1466850"/>
            <a:ext cx="4829175" cy="419100"/>
          </a:xfrm>
          <a:prstGeom prst="rect">
            <a:avLst/>
          </a:prstGeom>
        </p:spPr>
      </p:pic>
      <p:sp>
        <p:nvSpPr>
          <p:cNvPr id="18" name="Text 1"/>
          <p:cNvSpPr/>
          <p:nvPr/>
        </p:nvSpPr>
        <p:spPr>
          <a:xfrm>
            <a:off x="957263" y="1580108"/>
            <a:ext cx="44152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highlight>
                  <a:srgbClr val="004A5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Control</a:t>
            </a:r>
            <a:endParaRPr lang="en-US" sz="1100" dirty="0"/>
          </a:p>
        </p:txBody>
      </p:sp>
      <p:pic>
        <p:nvPicPr>
          <p:cNvPr id="19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38788" y="1481882"/>
            <a:ext cx="5886450" cy="419100"/>
          </a:xfrm>
          <a:prstGeom prst="rect">
            <a:avLst/>
          </a:prstGeom>
        </p:spPr>
      </p:pic>
      <p:sp>
        <p:nvSpPr>
          <p:cNvPr id="20" name="Text 2"/>
          <p:cNvSpPr/>
          <p:nvPr/>
        </p:nvSpPr>
        <p:spPr>
          <a:xfrm>
            <a:off x="5753546" y="1580108"/>
            <a:ext cx="54811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highlight>
                  <a:srgbClr val="004A5C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Mitigates</a:t>
            </a:r>
            <a:endParaRPr lang="en-US" sz="1100" dirty="0"/>
          </a:p>
        </p:txBody>
      </p:sp>
      <p:pic>
        <p:nvPicPr>
          <p:cNvPr id="21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475" y="1857375"/>
            <a:ext cx="4829175" cy="352425"/>
          </a:xfrm>
          <a:prstGeom prst="rect">
            <a:avLst/>
          </a:prstGeom>
        </p:spPr>
      </p:pic>
      <p:sp>
        <p:nvSpPr>
          <p:cNvPr id="22" name="Text 3"/>
          <p:cNvSpPr/>
          <p:nvPr/>
        </p:nvSpPr>
        <p:spPr>
          <a:xfrm>
            <a:off x="957263" y="1942058"/>
            <a:ext cx="441528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VLAN segmentation + ACLs</a:t>
            </a:r>
            <a:endParaRPr lang="en-US" sz="900" dirty="0"/>
          </a:p>
        </p:txBody>
      </p:sp>
      <p:pic>
        <p:nvPicPr>
          <p:cNvPr id="23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53075" y="1857375"/>
            <a:ext cx="5886450" cy="352425"/>
          </a:xfrm>
          <a:prstGeom prst="rect">
            <a:avLst/>
          </a:prstGeom>
        </p:spPr>
      </p:pic>
      <p:sp>
        <p:nvSpPr>
          <p:cNvPr id="24" name="Text 4"/>
          <p:cNvSpPr/>
          <p:nvPr/>
        </p:nvSpPr>
        <p:spPr>
          <a:xfrm>
            <a:off x="5753546" y="1942058"/>
            <a:ext cx="548119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59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Flat network, lateral movement</a:t>
            </a:r>
            <a:endParaRPr lang="en-US" sz="900" dirty="0"/>
          </a:p>
        </p:txBody>
      </p:sp>
      <p:pic>
        <p:nvPicPr>
          <p:cNvPr id="25" name="Image 1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2475" y="2181225"/>
            <a:ext cx="4829175" cy="342900"/>
          </a:xfrm>
          <a:prstGeom prst="rect">
            <a:avLst/>
          </a:prstGeom>
        </p:spPr>
      </p:pic>
      <p:sp>
        <p:nvSpPr>
          <p:cNvPr id="26" name="Text 5"/>
          <p:cNvSpPr/>
          <p:nvPr/>
        </p:nvSpPr>
        <p:spPr>
          <a:xfrm>
            <a:off x="957263" y="2258169"/>
            <a:ext cx="441528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DMZ with separate firewall rules</a:t>
            </a:r>
            <a:endParaRPr lang="en-US" sz="900" dirty="0"/>
          </a:p>
        </p:txBody>
      </p:sp>
      <p:pic>
        <p:nvPicPr>
          <p:cNvPr id="27" name="Image 1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53075" y="2181225"/>
            <a:ext cx="5886450" cy="342900"/>
          </a:xfrm>
          <a:prstGeom prst="rect">
            <a:avLst/>
          </a:prstGeom>
        </p:spPr>
      </p:pic>
      <p:sp>
        <p:nvSpPr>
          <p:cNvPr id="28" name="Text 6"/>
          <p:cNvSpPr/>
          <p:nvPr/>
        </p:nvSpPr>
        <p:spPr>
          <a:xfrm>
            <a:off x="5753546" y="2258169"/>
            <a:ext cx="548119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59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Public-facing services on internal LAN</a:t>
            </a:r>
            <a:endParaRPr lang="en-US" sz="900" dirty="0"/>
          </a:p>
        </p:txBody>
      </p:sp>
      <p:pic>
        <p:nvPicPr>
          <p:cNvPr id="29" name="Image 2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2475" y="2495550"/>
            <a:ext cx="4829175" cy="342900"/>
          </a:xfrm>
          <a:prstGeom prst="rect">
            <a:avLst/>
          </a:prstGeom>
        </p:spPr>
      </p:pic>
      <p:sp>
        <p:nvSpPr>
          <p:cNvPr id="30" name="Text 7"/>
          <p:cNvSpPr/>
          <p:nvPr/>
        </p:nvSpPr>
        <p:spPr>
          <a:xfrm>
            <a:off x="957263" y="2574280"/>
            <a:ext cx="441528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Firewall HA pair + redundant core</a:t>
            </a:r>
            <a:endParaRPr lang="en-US" sz="900" dirty="0"/>
          </a:p>
        </p:txBody>
      </p:sp>
      <p:pic>
        <p:nvPicPr>
          <p:cNvPr id="31" name="Image 2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53075" y="2495550"/>
            <a:ext cx="5886450" cy="342900"/>
          </a:xfrm>
          <a:prstGeom prst="rect">
            <a:avLst/>
          </a:prstGeom>
        </p:spPr>
      </p:pic>
      <p:sp>
        <p:nvSpPr>
          <p:cNvPr id="32" name="Text 8"/>
          <p:cNvSpPr/>
          <p:nvPr/>
        </p:nvSpPr>
        <p:spPr>
          <a:xfrm>
            <a:off x="5753546" y="2574280"/>
            <a:ext cx="548119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59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point of failure</a:t>
            </a:r>
            <a:endParaRPr lang="en-US" sz="900" dirty="0"/>
          </a:p>
        </p:txBody>
      </p:sp>
      <p:pic>
        <p:nvPicPr>
          <p:cNvPr id="33" name="Image 2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2475" y="2809875"/>
            <a:ext cx="4829175" cy="342900"/>
          </a:xfrm>
          <a:prstGeom prst="rect">
            <a:avLst/>
          </a:prstGeom>
        </p:spPr>
      </p:pic>
      <p:sp>
        <p:nvSpPr>
          <p:cNvPr id="34" name="Text 9"/>
          <p:cNvSpPr/>
          <p:nvPr/>
        </p:nvSpPr>
        <p:spPr>
          <a:xfrm>
            <a:off x="957263" y="2890391"/>
            <a:ext cx="441528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Inline IDS/IPS</a:t>
            </a:r>
            <a:endParaRPr lang="en-US" sz="900" dirty="0"/>
          </a:p>
        </p:txBody>
      </p:sp>
      <p:pic>
        <p:nvPicPr>
          <p:cNvPr id="35" name="Image 2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53075" y="2809875"/>
            <a:ext cx="5886450" cy="342900"/>
          </a:xfrm>
          <a:prstGeom prst="rect">
            <a:avLst/>
          </a:prstGeom>
        </p:spPr>
      </p:pic>
      <p:sp>
        <p:nvSpPr>
          <p:cNvPr id="36" name="Text 10"/>
          <p:cNvSpPr/>
          <p:nvPr/>
        </p:nvSpPr>
        <p:spPr>
          <a:xfrm>
            <a:off x="5753546" y="2890391"/>
            <a:ext cx="548119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59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threat visibility / late detection</a:t>
            </a:r>
            <a:endParaRPr lang="en-US" sz="900" dirty="0"/>
          </a:p>
        </p:txBody>
      </p:sp>
      <p:pic>
        <p:nvPicPr>
          <p:cNvPr id="37" name="Image 2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2475" y="3124200"/>
            <a:ext cx="4829175" cy="342900"/>
          </a:xfrm>
          <a:prstGeom prst="rect">
            <a:avLst/>
          </a:prstGeom>
        </p:spPr>
      </p:pic>
      <p:sp>
        <p:nvSpPr>
          <p:cNvPr id="38" name="Text 11"/>
          <p:cNvSpPr/>
          <p:nvPr/>
        </p:nvSpPr>
        <p:spPr>
          <a:xfrm>
            <a:off x="957263" y="3206502"/>
            <a:ext cx="441528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SFTP (replaces FTP); HTTPS only</a:t>
            </a:r>
            <a:endParaRPr lang="en-US" sz="900" dirty="0"/>
          </a:p>
        </p:txBody>
      </p:sp>
      <p:pic>
        <p:nvPicPr>
          <p:cNvPr id="39" name="Image 2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53075" y="3124200"/>
            <a:ext cx="5886450" cy="342900"/>
          </a:xfrm>
          <a:prstGeom prst="rect">
            <a:avLst/>
          </a:prstGeom>
        </p:spPr>
      </p:pic>
      <p:sp>
        <p:nvSpPr>
          <p:cNvPr id="40" name="Text 12"/>
          <p:cNvSpPr/>
          <p:nvPr/>
        </p:nvSpPr>
        <p:spPr>
          <a:xfrm>
            <a:off x="5753546" y="3206502"/>
            <a:ext cx="548119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59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Cleartext credentials and data</a:t>
            </a:r>
            <a:endParaRPr lang="en-US" sz="900" dirty="0"/>
          </a:p>
        </p:txBody>
      </p:sp>
      <p:pic>
        <p:nvPicPr>
          <p:cNvPr id="41" name="Image 2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2475" y="3438525"/>
            <a:ext cx="4829175" cy="352425"/>
          </a:xfrm>
          <a:prstGeom prst="rect">
            <a:avLst/>
          </a:prstGeom>
        </p:spPr>
      </p:pic>
      <p:sp>
        <p:nvSpPr>
          <p:cNvPr id="42" name="Text 13"/>
          <p:cNvSpPr/>
          <p:nvPr/>
        </p:nvSpPr>
        <p:spPr>
          <a:xfrm>
            <a:off x="957263" y="3522613"/>
            <a:ext cx="441528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MFA + RADIUS + internal PKI</a:t>
            </a:r>
            <a:endParaRPr lang="en-US" sz="900" dirty="0"/>
          </a:p>
        </p:txBody>
      </p:sp>
      <p:pic>
        <p:nvPicPr>
          <p:cNvPr id="43" name="Image 2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53075" y="3438525"/>
            <a:ext cx="5886450" cy="352425"/>
          </a:xfrm>
          <a:prstGeom prst="rect">
            <a:avLst/>
          </a:prstGeom>
        </p:spPr>
      </p:pic>
      <p:sp>
        <p:nvSpPr>
          <p:cNvPr id="44" name="Text 14"/>
          <p:cNvSpPr/>
          <p:nvPr/>
        </p:nvSpPr>
        <p:spPr>
          <a:xfrm>
            <a:off x="5753546" y="3522613"/>
            <a:ext cx="548119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59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Credential theft, weak auth</a:t>
            </a:r>
            <a:endParaRPr lang="en-US" sz="900" dirty="0"/>
          </a:p>
        </p:txBody>
      </p:sp>
      <p:pic>
        <p:nvPicPr>
          <p:cNvPr id="45" name="Image 2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2475" y="3762375"/>
            <a:ext cx="4829175" cy="342900"/>
          </a:xfrm>
          <a:prstGeom prst="rect">
            <a:avLst/>
          </a:prstGeom>
        </p:spPr>
      </p:pic>
      <p:sp>
        <p:nvSpPr>
          <p:cNvPr id="46" name="Text 15"/>
          <p:cNvSpPr/>
          <p:nvPr/>
        </p:nvSpPr>
        <p:spPr>
          <a:xfrm>
            <a:off x="957263" y="3838724"/>
            <a:ext cx="441528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802.1X NAC at access layer</a:t>
            </a:r>
            <a:endParaRPr lang="en-US" sz="900" dirty="0"/>
          </a:p>
        </p:txBody>
      </p:sp>
      <p:pic>
        <p:nvPicPr>
          <p:cNvPr id="47" name="Image 2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53075" y="3762375"/>
            <a:ext cx="5886450" cy="342900"/>
          </a:xfrm>
          <a:prstGeom prst="rect">
            <a:avLst/>
          </a:prstGeom>
        </p:spPr>
      </p:pic>
      <p:sp>
        <p:nvSpPr>
          <p:cNvPr id="48" name="Text 16"/>
          <p:cNvSpPr/>
          <p:nvPr/>
        </p:nvSpPr>
        <p:spPr>
          <a:xfrm>
            <a:off x="5753546" y="3838724"/>
            <a:ext cx="548119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59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Unauthorized device on the LAN</a:t>
            </a:r>
            <a:endParaRPr lang="en-US" sz="900" dirty="0"/>
          </a:p>
        </p:txBody>
      </p:sp>
      <p:pic>
        <p:nvPicPr>
          <p:cNvPr id="49" name="Image 3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2475" y="4076700"/>
            <a:ext cx="4829175" cy="342900"/>
          </a:xfrm>
          <a:prstGeom prst="rect">
            <a:avLst/>
          </a:prstGeom>
        </p:spPr>
      </p:pic>
      <p:sp>
        <p:nvSpPr>
          <p:cNvPr id="50" name="Text 17"/>
          <p:cNvSpPr/>
          <p:nvPr/>
        </p:nvSpPr>
        <p:spPr>
          <a:xfrm>
            <a:off x="957263" y="4154835"/>
            <a:ext cx="441528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WPA3-Enterprise + isolated Guest/IoT VLANs</a:t>
            </a:r>
            <a:endParaRPr lang="en-US" sz="900" dirty="0"/>
          </a:p>
        </p:txBody>
      </p:sp>
      <p:pic>
        <p:nvPicPr>
          <p:cNvPr id="51" name="Image 3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53075" y="4076700"/>
            <a:ext cx="5886450" cy="342900"/>
          </a:xfrm>
          <a:prstGeom prst="rect">
            <a:avLst/>
          </a:prstGeom>
        </p:spPr>
      </p:pic>
      <p:sp>
        <p:nvSpPr>
          <p:cNvPr id="52" name="Text 18"/>
          <p:cNvSpPr/>
          <p:nvPr/>
        </p:nvSpPr>
        <p:spPr>
          <a:xfrm>
            <a:off x="5753546" y="4154835"/>
            <a:ext cx="548119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59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Rogue/insecure wireless + default IoT creds</a:t>
            </a:r>
            <a:endParaRPr lang="en-US" sz="900" dirty="0"/>
          </a:p>
        </p:txBody>
      </p:sp>
      <p:pic>
        <p:nvPicPr>
          <p:cNvPr id="53" name="Image 3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2475" y="4391025"/>
            <a:ext cx="4829175" cy="342900"/>
          </a:xfrm>
          <a:prstGeom prst="rect">
            <a:avLst/>
          </a:prstGeom>
        </p:spPr>
      </p:pic>
      <p:sp>
        <p:nvSpPr>
          <p:cNvPr id="54" name="Text 19"/>
          <p:cNvSpPr/>
          <p:nvPr/>
        </p:nvSpPr>
        <p:spPr>
          <a:xfrm>
            <a:off x="957263" y="4470946"/>
            <a:ext cx="441528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Centralized SIEM, EDR/XDR, syslog, SOAR</a:t>
            </a:r>
            <a:endParaRPr lang="en-US" sz="900" dirty="0"/>
          </a:p>
        </p:txBody>
      </p:sp>
      <p:pic>
        <p:nvPicPr>
          <p:cNvPr id="55" name="Image 3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53075" y="4391025"/>
            <a:ext cx="5886450" cy="342900"/>
          </a:xfrm>
          <a:prstGeom prst="rect">
            <a:avLst/>
          </a:prstGeom>
        </p:spPr>
      </p:pic>
      <p:sp>
        <p:nvSpPr>
          <p:cNvPr id="56" name="Text 20"/>
          <p:cNvSpPr/>
          <p:nvPr/>
        </p:nvSpPr>
        <p:spPr>
          <a:xfrm>
            <a:off x="5753546" y="4470946"/>
            <a:ext cx="548119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59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monitoring / no audit trail</a:t>
            </a:r>
            <a:endParaRPr lang="en-US" sz="900" dirty="0"/>
          </a:p>
        </p:txBody>
      </p:sp>
      <p:pic>
        <p:nvPicPr>
          <p:cNvPr id="57" name="Image 3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2475" y="4705350"/>
            <a:ext cx="4829175" cy="342900"/>
          </a:xfrm>
          <a:prstGeom prst="rect">
            <a:avLst/>
          </a:prstGeom>
        </p:spPr>
      </p:pic>
      <p:sp>
        <p:nvSpPr>
          <p:cNvPr id="58" name="Text 21"/>
          <p:cNvSpPr/>
          <p:nvPr/>
        </p:nvSpPr>
        <p:spPr>
          <a:xfrm>
            <a:off x="957263" y="4787057"/>
            <a:ext cx="441528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Encrypted DB + 3-2-1 backups + DB replica</a:t>
            </a:r>
            <a:endParaRPr lang="en-US" sz="900" dirty="0"/>
          </a:p>
        </p:txBody>
      </p:sp>
      <p:pic>
        <p:nvPicPr>
          <p:cNvPr id="59" name="Image 3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53075" y="4705350"/>
            <a:ext cx="5886450" cy="342900"/>
          </a:xfrm>
          <a:prstGeom prst="rect">
            <a:avLst/>
          </a:prstGeom>
        </p:spPr>
      </p:pic>
      <p:sp>
        <p:nvSpPr>
          <p:cNvPr id="60" name="Text 22"/>
          <p:cNvSpPr/>
          <p:nvPr/>
        </p:nvSpPr>
        <p:spPr>
          <a:xfrm>
            <a:off x="5753546" y="4787057"/>
            <a:ext cx="548119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59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loss, ransomware recovery</a:t>
            </a:r>
            <a:endParaRPr lang="en-US" sz="900" dirty="0"/>
          </a:p>
        </p:txBody>
      </p:sp>
      <p:pic>
        <p:nvPicPr>
          <p:cNvPr id="61" name="Image 3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2475" y="5019675"/>
            <a:ext cx="4829175" cy="342900"/>
          </a:xfrm>
          <a:prstGeom prst="rect">
            <a:avLst/>
          </a:prstGeom>
        </p:spPr>
      </p:pic>
      <p:sp>
        <p:nvSpPr>
          <p:cNvPr id="62" name="Text 23"/>
          <p:cNvSpPr/>
          <p:nvPr/>
        </p:nvSpPr>
        <p:spPr>
          <a:xfrm>
            <a:off x="957263" y="5103168"/>
            <a:ext cx="441528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Out-of-band management VLAN + bastion + PAM</a:t>
            </a:r>
            <a:endParaRPr lang="en-US" sz="900" dirty="0"/>
          </a:p>
        </p:txBody>
      </p:sp>
      <p:pic>
        <p:nvPicPr>
          <p:cNvPr id="63" name="Image 3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53075" y="5019675"/>
            <a:ext cx="5886450" cy="342900"/>
          </a:xfrm>
          <a:prstGeom prst="rect">
            <a:avLst/>
          </a:prstGeom>
        </p:spPr>
      </p:pic>
      <p:sp>
        <p:nvSpPr>
          <p:cNvPr id="64" name="Text 24"/>
          <p:cNvSpPr/>
          <p:nvPr/>
        </p:nvSpPr>
        <p:spPr>
          <a:xfrm>
            <a:off x="5753546" y="5103168"/>
            <a:ext cx="548119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59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Lateral movement to management plane</a:t>
            </a:r>
            <a:endParaRPr lang="en-US" sz="900" dirty="0"/>
          </a:p>
        </p:txBody>
      </p:sp>
      <p:pic>
        <p:nvPicPr>
          <p:cNvPr id="65" name="Image 3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2475" y="5334000"/>
            <a:ext cx="4829175" cy="352425"/>
          </a:xfrm>
          <a:prstGeom prst="rect">
            <a:avLst/>
          </a:prstGeom>
        </p:spPr>
      </p:pic>
      <p:sp>
        <p:nvSpPr>
          <p:cNvPr id="66" name="Text 25"/>
          <p:cNvSpPr/>
          <p:nvPr/>
        </p:nvSpPr>
        <p:spPr>
          <a:xfrm>
            <a:off x="957263" y="5419279"/>
            <a:ext cx="441528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Patch management (WSUS) + vuln scanner (Nessus)</a:t>
            </a:r>
            <a:endParaRPr lang="en-US" sz="900" dirty="0"/>
          </a:p>
        </p:txBody>
      </p:sp>
      <p:pic>
        <p:nvPicPr>
          <p:cNvPr id="67" name="Image 3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553075" y="5334000"/>
            <a:ext cx="5886450" cy="352425"/>
          </a:xfrm>
          <a:prstGeom prst="rect">
            <a:avLst/>
          </a:prstGeom>
        </p:spPr>
      </p:pic>
      <p:sp>
        <p:nvSpPr>
          <p:cNvPr id="68" name="Text 26"/>
          <p:cNvSpPr/>
          <p:nvPr/>
        </p:nvSpPr>
        <p:spPr>
          <a:xfrm>
            <a:off x="5753546" y="5419279"/>
            <a:ext cx="548119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59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Unpatched systems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709988" y="3093690"/>
            <a:ext cx="4772025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B7E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Tradeoff Analysis</a:t>
            </a:r>
            <a:endParaRPr lang="en-US" sz="4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7475" y="2362200"/>
            <a:ext cx="38100" cy="35718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62000" y="571500"/>
            <a:ext cx="10668000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Control Trade-off Analysis</a:t>
            </a:r>
            <a:endParaRPr lang="en-US" sz="4500" dirty="0"/>
          </a:p>
        </p:txBody>
      </p:sp>
      <p:sp>
        <p:nvSpPr>
          <p:cNvPr id="5" name="Text 1"/>
          <p:cNvSpPr/>
          <p:nvPr/>
        </p:nvSpPr>
        <p:spPr>
          <a:xfrm>
            <a:off x="762000" y="1622971"/>
            <a:ext cx="50482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7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Trade-offs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62000" y="2318296"/>
            <a:ext cx="50482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62000" y="2556421"/>
            <a:ext cx="50482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59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 firewalls, EDR, SIEM, PAM licensing + hardware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762000" y="2998291"/>
            <a:ext cx="50482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Complexity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62000" y="3236416"/>
            <a:ext cx="50482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59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VLAN ACLs and 802.1X need tuning; rule sprawl risk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62000" y="3678287"/>
            <a:ext cx="50482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impact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62000" y="3916412"/>
            <a:ext cx="50482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59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MFA adds friction; guest Wi-Fi captive portal step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62000" y="4358283"/>
            <a:ext cx="50482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Dependencies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62000" y="4596408"/>
            <a:ext cx="50482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59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PKI needs CA team; SIEM needs log forwarding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381750" y="1622971"/>
            <a:ext cx="50482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7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Phased rollout (90-day)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6762750" y="2375446"/>
            <a:ext cx="4667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7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Days 1–14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762750" y="2575471"/>
            <a:ext cx="4667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Firewall HA pair, IDS/IPS inline, replace FTP with SFTP, default-deny baseline ACL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6762750" y="3261271"/>
            <a:ext cx="4667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7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Days 15–45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6762750" y="3461296"/>
            <a:ext cx="4667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VLAN segmentation, NAC/802.1X pilot on one floor, MFA for privileged + remote accounts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762750" y="4147096"/>
            <a:ext cx="4667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7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Days 46–75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6762750" y="4347121"/>
            <a:ext cx="4667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OOB management VLAN, SIEM + EDR rollout, encrypted DB + replica, backup overhaul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762750" y="5032921"/>
            <a:ext cx="4667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7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Days 76–90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762750" y="5232946"/>
            <a:ext cx="4667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WPA3-Ent migration, IoT VLAN cutover, PAM onboarding, SOAR playbooks, tabletop test</a:t>
            </a:r>
            <a:endParaRPr lang="en-US" sz="10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0325" y="2419350"/>
            <a:ext cx="152400" cy="161925"/>
          </a:xfrm>
          <a:prstGeom prst="rect">
            <a:avLst/>
          </a:prstGeom>
        </p:spPr>
      </p:pic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0325" y="3305175"/>
            <a:ext cx="152400" cy="161925"/>
          </a:xfrm>
          <a:prstGeom prst="rect">
            <a:avLst/>
          </a:prstGeom>
        </p:spPr>
      </p:pic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0325" y="4191000"/>
            <a:ext cx="152400" cy="161925"/>
          </a:xfrm>
          <a:prstGeom prst="rect">
            <a:avLst/>
          </a:prstGeom>
        </p:spPr>
      </p:pic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0325" y="5076825"/>
            <a:ext cx="152400" cy="1619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62400" y="3093690"/>
            <a:ext cx="4267200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B7E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Takeaways</a:t>
            </a:r>
            <a:endParaRPr lang="en-US" sz="4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3225" y="2638425"/>
            <a:ext cx="5067300" cy="30194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62000" y="571500"/>
            <a:ext cx="10668000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Lessons Learned Key Takeaways</a:t>
            </a:r>
            <a:endParaRPr lang="en-US" sz="4500" dirty="0"/>
          </a:p>
        </p:txBody>
      </p:sp>
      <p:sp>
        <p:nvSpPr>
          <p:cNvPr id="5" name="Text 1"/>
          <p:cNvSpPr/>
          <p:nvPr/>
        </p:nvSpPr>
        <p:spPr>
          <a:xfrm>
            <a:off x="990600" y="2521148"/>
            <a:ext cx="55816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Segmentation is highest leverage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990600" y="2759273"/>
            <a:ext cx="5581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1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 blast radius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990600" y="3178373"/>
            <a:ext cx="55816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Diagrams forced clarity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990600" y="3416498"/>
            <a:ext cx="5581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1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exposed hidden assumptions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990600" y="3835598"/>
            <a:ext cx="55816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Defense in depth matters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990600" y="4073723"/>
            <a:ext cx="5581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1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redundancy buys response time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990600" y="4492823"/>
            <a:ext cx="55816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Visibility enables containment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990600" y="4730948"/>
            <a:ext cx="5581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1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SIEM/EDR/logs matter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990600" y="5150048"/>
            <a:ext cx="55816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with asset list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990600" y="5388173"/>
            <a:ext cx="5581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1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controls follow value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524750" y="3409950"/>
            <a:ext cx="3524250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Segmentation is the single highest-leverage control — most network problems are really blast-radius problems.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9242" y="-77897"/>
            <a:ext cx="12330483" cy="693589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4286250" y="-381000"/>
            <a:ext cx="16668750" cy="3228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9900" dirty="0"/>
          </a:p>
        </p:txBody>
      </p:sp>
      <p:sp>
        <p:nvSpPr>
          <p:cNvPr id="5" name="Text 1"/>
          <p:cNvSpPr/>
          <p:nvPr/>
        </p:nvSpPr>
        <p:spPr>
          <a:xfrm>
            <a:off x="4243388" y="2988915"/>
            <a:ext cx="370522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900" b="1" dirty="0">
                <a:solidFill>
                  <a:srgbClr val="B7E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</a:t>
            </a:r>
            <a:endParaRPr lang="en-US" sz="5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5975" y="0"/>
            <a:ext cx="2486025" cy="24860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952875"/>
            <a:ext cx="1476375" cy="19335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533400"/>
            <a:ext cx="8115300" cy="1340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or Closing Thoughts</a:t>
            </a:r>
            <a:endParaRPr lang="en-US" sz="4500" dirty="0"/>
          </a:p>
        </p:txBody>
      </p:sp>
      <p:sp>
        <p:nvSpPr>
          <p:cNvPr id="6" name="Text 1"/>
          <p:cNvSpPr/>
          <p:nvPr/>
        </p:nvSpPr>
        <p:spPr>
          <a:xfrm>
            <a:off x="609600" y="2026741"/>
            <a:ext cx="8115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Acme AeroTech — Secure Network Redesign</a:t>
            </a:r>
            <a:endParaRPr lang="en-US" sz="1100" dirty="0"/>
          </a:p>
        </p:txBody>
      </p:sp>
      <p:sp>
        <p:nvSpPr>
          <p:cNvPr id="7" name="Text 2"/>
          <p:cNvSpPr/>
          <p:nvPr/>
        </p:nvSpPr>
        <p:spPr>
          <a:xfrm>
            <a:off x="8724900" y="53340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8" name="Text 3"/>
          <p:cNvSpPr/>
          <p:nvPr/>
        </p:nvSpPr>
        <p:spPr>
          <a:xfrm>
            <a:off x="8724900" y="76200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8724900" y="148590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1809750" y="3082230"/>
            <a:ext cx="8572500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Happy to discuss any part of the design — vulnerabilities, controls, or rollout sequencing.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609600" y="4800600"/>
            <a:ext cx="109728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0" b="1" dirty="0">
                <a:solidFill>
                  <a:srgbClr val="004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9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931</Words>
  <Application>Microsoft Office PowerPoint</Application>
  <PresentationFormat>Widescreen</PresentationFormat>
  <Paragraphs>200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dokie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dokie</dc:creator>
  <cp:lastModifiedBy>Eddy Max</cp:lastModifiedBy>
  <cp:revision>5</cp:revision>
  <dcterms:created xsi:type="dcterms:W3CDTF">2026-05-15T16:25:37Z</dcterms:created>
  <dcterms:modified xsi:type="dcterms:W3CDTF">2026-05-18T10:11:09Z</dcterms:modified>
</cp:coreProperties>
</file>